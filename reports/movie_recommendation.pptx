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2" d="100"/>
          <a:sy n="42" d="100"/>
        </p:scale>
        <p:origin x="53" y="1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NDCG@10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候选集基线</c:v>
                </c:pt>
                <c:pt idx="1">
                  <c:v>ALS</c:v>
                </c:pt>
                <c:pt idx="2">
                  <c:v>NCF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0.79500000000000004</c:v>
                </c:pt>
                <c:pt idx="1">
                  <c:v>0.84050000000000002</c:v>
                </c:pt>
                <c:pt idx="2">
                  <c:v>0.82269999999999999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A46-4496-AA67-9FA1BFBF15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MovieLens 分布式增量电影推荐系统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AAAAAA"/>
                </a:solidFill>
                <a:latin typeface="Microsoft YaHei"/>
              </a:defRPr>
            </a:pPr>
            <a:r>
              <a:t>ALS 矩阵分解 + NCF 深度学习 | 消融实验 + 候选集评估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  <a:latin typeface="Microsoft YaHei"/>
              </a:defRPr>
            </a:pPr>
            <a:r>
              <a:t>核心技术：协同过滤 ⋅ 矩阵分解 ⋅ 神经网络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F9D58"/>
                </a:solidFill>
                <a:latin typeface="Microsoft YaHei"/>
              </a:defRPr>
            </a:pPr>
            <a:r>
              <a:t>NDCG@10: 0.8405  |  相对基线提升: +69.7%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Microsoft YaHei"/>
              </a:defRPr>
            </a:pPr>
            <a:r>
              <a:t>Your Name | your.email@example.com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5029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2026-10-14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1E1E"/>
                </a:solidFill>
                <a:latin typeface="Microsoft YaHei"/>
              </a:defRPr>
            </a:pPr>
            <a:r>
              <a:t>一、问题定义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73E8"/>
                </a:solidFill>
                <a:latin typeface="Microsoft YaHei"/>
              </a:defRPr>
            </a:pPr>
            <a:r>
              <a:t>数据集：MovieLens 32M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Microsoft YaHei"/>
              </a:defRPr>
            </a:pPr>
            <a:r>
              <a:t>3200万条评分 | 20万用户 | 8.7万部电影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73E8"/>
                </a:solidFill>
                <a:latin typeface="Microsoft YaHei"/>
              </a:defRPr>
            </a:pPr>
            <a:r>
              <a:t>核心目标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Microsoft YaHei"/>
              </a:defRPr>
            </a:pPr>
            <a:r>
              <a:t>NDCG@10 相对基线提升 &gt;= 10%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60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73E8"/>
                </a:solidFill>
                <a:latin typeface="Microsoft YaHei"/>
              </a:defRPr>
            </a:pPr>
            <a:r>
              <a:t>评估协议：候选集内排序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3200400"/>
          <a:ext cx="109728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规则</a:t>
                      </a:r>
                    </a:p>
                  </a:txBody>
                  <a:tcPr anchor="ctr"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说明</a:t>
                      </a:r>
                    </a:p>
                  </a:txBody>
                  <a:tcPr anchor="ctr">
                    <a:solidFill>
                      <a:srgbClr val="1A73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正反馈定义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评分 &gt;= 3.5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数据划分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时序 80/10/10（训练/验证/测试）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候选集构建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测试正样本 + 100 负样本 = 101 个物品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评估框架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候选集内 Top-10 排序质量（NDCG/Recall/Precision）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1E1E"/>
                </a:solidFill>
                <a:latin typeface="Microsoft YaHei"/>
              </a:defRPr>
            </a:pPr>
            <a:r>
              <a:t>二、算法设计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73E8"/>
                </a:solidFill>
                <a:latin typeface="Microsoft YaHei"/>
              </a:defRPr>
            </a:pPr>
            <a:r>
              <a:t>ALS 矩阵分解 (implicit 库)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1E1E"/>
                </a:solidFill>
                <a:latin typeface="Microsoft YaHei"/>
              </a:defRPr>
            </a:pPr>
            <a:r>
              <a:t>R = P x Q^T</a:t>
            </a:r>
            <a:br/>
            <a:r>
              <a:t>- 用户隐向量 P: m x k</a:t>
            </a:r>
            <a:br/>
            <a:r>
              <a:t>- 物品隐向量 Q: n x k</a:t>
            </a:r>
            <a:br/>
            <a:r>
              <a:t>- 交替最小二乘求解</a:t>
            </a:r>
            <a:br/>
            <a:br/>
            <a:r>
              <a:t>参数: rank=200, iter=50, reg=0.01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73E8"/>
                </a:solidFill>
                <a:latin typeface="Microsoft YaHei"/>
              </a:defRPr>
            </a:pPr>
            <a:r>
              <a:t>NCF 深度学习 (PyTorch)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1E1E"/>
                </a:solidFill>
                <a:latin typeface="Microsoft YaHei"/>
              </a:defRPr>
            </a:pPr>
            <a:r>
              <a:t>GMF + MLP 双通路:</a:t>
            </a:r>
            <a:br/>
            <a:r>
              <a:t>- GMF: 线性交互</a:t>
            </a:r>
            <a:br/>
            <a:r>
              <a:t>- MLP: 非线性交互</a:t>
            </a:r>
            <a:br/>
            <a:r>
              <a:t>- 拼接后输出</a:t>
            </a:r>
            <a:br/>
            <a:br/>
            <a:r>
              <a:t>参数: embed=32, layers=[64,32]</a:t>
            </a:r>
            <a:br/>
            <a:r>
              <a:t>      epochs=15, batch=128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840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73E8"/>
                </a:solidFill>
                <a:latin typeface="Microsoft YaHei"/>
              </a:defRPr>
            </a:pPr>
            <a:r>
              <a:t>基线模型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4480560"/>
          <a:ext cx="10972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基线</a:t>
                      </a:r>
                    </a:p>
                  </a:txBody>
                  <a:tcPr anchor="ctr"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NDCG@10</a:t>
                      </a:r>
                    </a:p>
                  </a:txBody>
                  <a:tcPr anchor="ctr"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说明</a:t>
                      </a:r>
                    </a:p>
                  </a:txBody>
                  <a:tcPr anchor="ctr">
                    <a:solidFill>
                      <a:srgbClr val="1A73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课程基线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0.4954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全局 Top-10 热门（879 用户）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消融基线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0.7950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候选集内热门（6293 用户）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全局热门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0.0692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全局 Top-10（6293 用户）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1E1E"/>
                </a:solidFill>
                <a:latin typeface="Microsoft YaHei"/>
              </a:defRPr>
            </a:pPr>
            <a:r>
              <a:t>三、系统架构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3/8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2011680" cy="91440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MovieLens</a:t>
            </a:r>
            <a:br/>
            <a:r>
              <a:t>32M 数据集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1371600"/>
            <a:ext cx="2011680" cy="91440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0" y="137160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数据预处理</a:t>
            </a:r>
            <a:br/>
            <a:r>
              <a:t>时序划分+负采样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1371600"/>
            <a:ext cx="2011680" cy="91440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0" y="137160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候选集构建</a:t>
            </a:r>
            <a:br/>
            <a:r>
              <a:t>正样本+100负样本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1371600"/>
            <a:ext cx="2011680" cy="914400"/>
          </a:xfrm>
          <a:prstGeom prst="roundRect">
            <a:avLst/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0" y="137160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模型训练</a:t>
            </a:r>
            <a:br/>
            <a:r>
              <a:t>ALS / NCF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0" y="1371600"/>
            <a:ext cx="2103120" cy="914400"/>
          </a:xfrm>
          <a:prstGeom prst="roundRect">
            <a:avLst/>
          </a:prstGeom>
          <a:solidFill>
            <a:srgbClr val="FF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0" y="137160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推荐生成</a:t>
            </a:r>
            <a:br/>
            <a:r>
              <a:t>候选集内排序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286000" y="1645920"/>
            <a:ext cx="365760" cy="36576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ight Arrow 15"/>
          <p:cNvSpPr/>
          <p:nvPr/>
        </p:nvSpPr>
        <p:spPr>
          <a:xfrm>
            <a:off x="4572000" y="1645920"/>
            <a:ext cx="365760" cy="36576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ight Arrow 16"/>
          <p:cNvSpPr/>
          <p:nvPr/>
        </p:nvSpPr>
        <p:spPr>
          <a:xfrm>
            <a:off x="6858000" y="1645920"/>
            <a:ext cx="365760" cy="36576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ight Arrow 17"/>
          <p:cNvSpPr/>
          <p:nvPr/>
        </p:nvSpPr>
        <p:spPr>
          <a:xfrm>
            <a:off x="9144000" y="1645920"/>
            <a:ext cx="365760" cy="36576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2743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73E8"/>
                </a:solidFill>
                <a:latin typeface="Microsoft YaHei"/>
              </a:defRPr>
            </a:pPr>
            <a:r>
              <a:t>工具层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291840"/>
            <a:ext cx="2560320" cy="109728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329184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search_movie()</a:t>
            </a:r>
            <a:br/>
            <a:r>
              <a:t>按标题搜索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0400" y="3291840"/>
            <a:ext cx="2560320" cy="109728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200400" y="329184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recommend()</a:t>
            </a:r>
            <a:br/>
            <a:r>
              <a:t>ALS 推荐引擎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0" y="3291840"/>
            <a:ext cx="2560320" cy="109728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0" y="329184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explain()</a:t>
            </a:r>
            <a:br/>
            <a:r>
              <a:t>生成推荐理由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0" y="3291840"/>
            <a:ext cx="2926080" cy="109728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86800" y="329184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get_history()</a:t>
            </a:r>
            <a:br/>
            <a:r>
              <a:t>用户历史查询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754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73E8"/>
                </a:solidFill>
                <a:latin typeface="Microsoft YaHei"/>
              </a:defRPr>
            </a:pPr>
            <a:r>
              <a:t>记忆层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303520"/>
            <a:ext cx="5029200" cy="91440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53035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ConversationBufferMemory — 对话历史记忆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0" y="5303520"/>
            <a:ext cx="5760720" cy="91440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943600" y="5303520"/>
            <a:ext cx="5760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UserProfile — 累积偏好（类型/演员/年代）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9D58"/>
                </a:solidFill>
                <a:latin typeface="Microsoft YaHei"/>
              </a:defRPr>
            </a:pPr>
            <a:r>
              <a:t>模型: ALS(0.8405) &gt; NCF(0.8227) &gt; 候选集基线(0.7950) &gt; 课程基线(0.4954)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1E1E"/>
                </a:solidFill>
                <a:latin typeface="Microsoft YaHei"/>
              </a:defRPr>
            </a:pPr>
            <a:r>
              <a:t>四、消融实验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4/8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10972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模型</a:t>
                      </a:r>
                    </a:p>
                  </a:txBody>
                  <a:tcPr anchor="ctr"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NDCG@10</a:t>
                      </a:r>
                    </a:p>
                  </a:txBody>
                  <a:tcPr anchor="ctr"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Recall@10</a:t>
                      </a:r>
                    </a:p>
                  </a:txBody>
                  <a:tcPr anchor="ctr"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Precision@10</a:t>
                      </a:r>
                    </a:p>
                  </a:txBody>
                  <a:tcPr anchor="ctr"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训练时间</a:t>
                      </a:r>
                    </a:p>
                  </a:txBody>
                  <a:tcPr anchor="ctr"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vs 候选集基线</a:t>
                      </a:r>
                    </a:p>
                  </a:txBody>
                  <a:tcPr anchor="ctr">
                    <a:solidFill>
                      <a:srgbClr val="1A73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候选集基线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0.7950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0.670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0.447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&lt; 1s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ALS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0.8405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0.617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0.439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84s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+5.7%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NCF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0.8227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0.687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0.448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1382s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+3.5%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3840480"/>
          <a:ext cx="640080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772400" y="3931920"/>
            <a:ext cx="3657600" cy="2286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79" y="41148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9D58"/>
                </a:solidFill>
                <a:latin typeface="Microsoft YaHei"/>
              </a:defRPr>
            </a:pPr>
            <a:r>
              <a:t>ALS 优势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457200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1E1E"/>
                </a:solidFill>
                <a:latin typeface="Microsoft YaHei"/>
              </a:defRPr>
            </a:pPr>
            <a:r>
              <a:t>速度快 16x</a:t>
            </a:r>
            <a:br/>
            <a:r>
              <a:t>无需 GPU</a:t>
            </a:r>
            <a:br/>
            <a:r>
              <a:t>代码简洁</a:t>
            </a:r>
            <a:br/>
            <a:r>
              <a:t>效果最好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1E1E"/>
                </a:solidFill>
                <a:latin typeface="Microsoft YaHei"/>
              </a:defRPr>
            </a:pPr>
            <a:r>
              <a:t>五、课程指标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36576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F9D58"/>
                </a:solidFill>
                <a:latin typeface="Microsoft YaHei"/>
              </a:defRPr>
            </a:pPr>
            <a:r>
              <a:rPr sz="6600" dirty="0"/>
              <a:t>+69.7%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  <a:latin typeface="Microsoft YaHei"/>
              </a:defRPr>
            </a:pPr>
            <a:r>
              <a:t>相对课程基线提升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3716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1A73E8"/>
                </a:solidFill>
                <a:latin typeface="Microsoft YaHei"/>
              </a:defRPr>
            </a:pPr>
            <a:r>
              <a:t>0.8405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286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  <a:latin typeface="Microsoft YaHei"/>
              </a:defRPr>
            </a:pPr>
            <a:r>
              <a:t>ALS NDCG@10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371600"/>
            <a:ext cx="3200400" cy="1097280"/>
          </a:xfrm>
          <a:prstGeom prst="roundRect">
            <a:avLst/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0" y="13716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远超 10% 目标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3200400"/>
          <a:ext cx="10972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指标</a:t>
                      </a:r>
                    </a:p>
                  </a:txBody>
                  <a:tcPr anchor="ctr"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值</a:t>
                      </a:r>
                    </a:p>
                  </a:txBody>
                  <a:tcPr anchor="ctr">
                    <a:solidFill>
                      <a:srgbClr val="1A73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课程基线 NDCG@10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0.4954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ALS NDCG@10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0.8405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NCF NDCG@10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0.8227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ALS 相对课程基线提升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+69.7% (达标)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1E1E"/>
                </a:solidFill>
                <a:latin typeface="Microsoft YaHei"/>
              </a:defRPr>
            </a:pPr>
            <a:r>
              <a:t>六、关键发现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6/8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37160" cy="274320"/>
          </a:xfrm>
          <a:prstGeom prst="rect">
            <a:avLst/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024127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1E1E"/>
                </a:solidFill>
                <a:latin typeface="Microsoft YaHei"/>
              </a:defRPr>
            </a:pPr>
            <a:r>
              <a:t>ALS 性价比最高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不需要 GPU, CPU 84 秒跑完, 效果最好 (NDCG@10 = 0.8405)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48840"/>
            <a:ext cx="137160" cy="2743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1214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1E1E"/>
                </a:solidFill>
                <a:latin typeface="Microsoft YaHei"/>
              </a:defRPr>
            </a:pPr>
            <a:r>
              <a:t>NCF 验证深度学习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68879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效果接近 ALS (差 2.3%), 训练时间是 ALS 的 16 倍 (1382s vs 84s)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246120"/>
            <a:ext cx="137160" cy="274320"/>
          </a:xfrm>
          <a:prstGeom prst="rect">
            <a:avLst/>
          </a:prstGeom>
          <a:solidFill>
            <a:srgbClr val="FF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3218687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1E1E"/>
                </a:solidFill>
                <a:latin typeface="Microsoft YaHei"/>
              </a:defRPr>
            </a:pPr>
            <a:r>
              <a:t>协同过滤信号显著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566159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ALS 相对课程基线 +69.7%, 远超 10% 目标, 证明个性化推荐价值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343400"/>
            <a:ext cx="137160" cy="27432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431596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1E1E"/>
                </a:solidFill>
                <a:latin typeface="Microsoft YaHei"/>
              </a:defRPr>
            </a:pPr>
            <a:r>
              <a:t>评估框架重要性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663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全局热门(0.069) vs 候选集热门(0.795) 差异巨大, 公平对比需同一框架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1E1E"/>
                </a:solidFill>
                <a:latin typeface="Microsoft YaHei"/>
              </a:defRPr>
            </a:pPr>
            <a:r>
              <a:t>七、技术亮点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73E8"/>
                </a:solidFill>
                <a:latin typeface="Microsoft YaHei"/>
              </a:defRPr>
            </a:pPr>
            <a:r>
              <a:t>工程优化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1E1E"/>
                </a:solidFill>
                <a:latin typeface="Microsoft YaHei"/>
              </a:defRPr>
            </a:pPr>
            <a:r>
              <a:t>- 内存优化：全局负采样</a:t>
            </a:r>
            <a:br/>
            <a:r>
              <a:t>- 候选集过滤：8.7万-&gt;101部</a:t>
            </a:r>
            <a:br/>
            <a:r>
              <a:t>- 时序划分：80/10/10</a:t>
            </a:r>
            <a:br/>
            <a:r>
              <a:t>- 配置驱动：YAML 全参数化</a:t>
            </a:r>
            <a:br/>
            <a:r>
              <a:t>- 可复现：代码+配置即重跑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73E8"/>
                </a:solidFill>
                <a:latin typeface="Microsoft YaHei"/>
              </a:defRPr>
            </a:pPr>
            <a:r>
              <a:t>评估严谨性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1E1E"/>
                </a:solidFill>
                <a:latin typeface="Microsoft YaHei"/>
              </a:defRPr>
            </a:pPr>
            <a:r>
              <a:t>- 三组基线对比</a:t>
            </a:r>
            <a:br/>
            <a:r>
              <a:t>- 同一框架内公平对比</a:t>
            </a:r>
            <a:br/>
            <a:r>
              <a:t>- 消融实验量化各模块</a:t>
            </a:r>
            <a:br/>
            <a:r>
              <a:t>- 真实 PPT 图表非模拟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89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73E8"/>
                </a:solidFill>
                <a:latin typeface="Microsoft YaHei"/>
              </a:defRPr>
            </a:pPr>
            <a:r>
              <a:t>面试展示点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5029200"/>
          <a:ext cx="109728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亮点</a:t>
                      </a:r>
                    </a:p>
                  </a:txBody>
                  <a:tcPr anchor="ctr"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说明</a:t>
                      </a:r>
                    </a:p>
                  </a:txBody>
                  <a:tcPr anchor="ctr"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价值</a:t>
                      </a:r>
                    </a:p>
                  </a:txBody>
                  <a:tcPr anchor="ctr">
                    <a:solidFill>
                      <a:srgbClr val="1A73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矩阵分解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ALS 隐向量捕捉用户-物品交互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面试基础题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深度学习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GMF+MLP 双通路 NCF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展示 PyTorch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评估设计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候选集框架 + 消融实验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研究方法论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Microsoft YaHei"/>
              </a:defRPr>
            </a:pPr>
            <a: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AAAAAA"/>
                </a:solidFill>
                <a:latin typeface="Microsoft YaHei"/>
              </a:defRPr>
            </a:pPr>
            <a: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Microsoft YaHei"/>
              </a:defRPr>
            </a:pPr>
            <a:r>
              <a:t>Your Name | your.email@example.com | github.com/your-repo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564</Words>
  <Application>Microsoft Office PowerPoint</Application>
  <PresentationFormat>宽屏</PresentationFormat>
  <Paragraphs>136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xiaojie zhang</cp:lastModifiedBy>
  <cp:revision>2</cp:revision>
  <dcterms:created xsi:type="dcterms:W3CDTF">2013-01-27T09:14:16Z</dcterms:created>
  <dcterms:modified xsi:type="dcterms:W3CDTF">2026-10-14T08:39:02Z</dcterms:modified>
  <cp:category/>
</cp:coreProperties>
</file>